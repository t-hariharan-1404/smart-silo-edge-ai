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3650D4-BFDF-44D2-BD6F-202C1A409C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F4DD1B-14BC-4109-8618-960FC0CCD8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ML MODELS USED                                                                                      </a:t>
          </a:r>
        </a:p>
      </dgm:t>
    </dgm:pt>
    <dgm:pt modelId="{01B9A3E3-63D5-462D-9D06-410B85374722}" type="sibTrans" cxnId="{8C2F98CA-C405-49C9-9189-A7CD8CF400B1}">
      <dgm:prSet/>
      <dgm:spPr/>
      <dgm:t>
        <a:bodyPr/>
        <a:lstStyle/>
        <a:p>
          <a:endParaRPr lang="en-US"/>
        </a:p>
      </dgm:t>
    </dgm:pt>
    <dgm:pt modelId="{F81588D6-99E0-4422-BD89-9B05B3C6E75F}" type="parTrans" cxnId="{8C2F98CA-C405-49C9-9189-A7CD8CF400B1}">
      <dgm:prSet/>
      <dgm:spPr/>
      <dgm:t>
        <a:bodyPr/>
        <a:lstStyle/>
        <a:p>
          <a:endParaRPr lang="en-US"/>
        </a:p>
      </dgm:t>
    </dgm:pt>
    <dgm:pt modelId="{2E527380-FB45-4C54-B2E7-701DAD5508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MODEL 1: RAIN PREDICTION (CLASSIFICATION)                                        </a:t>
          </a:r>
        </a:p>
      </dgm:t>
    </dgm:pt>
    <dgm:pt modelId="{407053A7-1BD0-41D8-982E-ECA7BD36130E}" type="sibTrans" cxnId="{24109129-333E-463A-A7FD-A9C3138A4A23}">
      <dgm:prSet/>
      <dgm:spPr/>
      <dgm:t>
        <a:bodyPr/>
        <a:lstStyle/>
        <a:p>
          <a:endParaRPr lang="en-US"/>
        </a:p>
      </dgm:t>
    </dgm:pt>
    <dgm:pt modelId="{F2696F67-E976-4943-B5F4-E8AD77AE85D9}" type="parTrans" cxnId="{24109129-333E-463A-A7FD-A9C3138A4A23}">
      <dgm:prSet/>
      <dgm:spPr/>
      <dgm:t>
        <a:bodyPr/>
        <a:lstStyle/>
        <a:p>
          <a:endParaRPr lang="en-US"/>
        </a:p>
      </dgm:t>
    </dgm:pt>
    <dgm:pt modelId="{3FCC1DA7-AA3F-4819-AE85-7E38772376C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INPUT: TEMPERATURE, HUMIDITY                                                                 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88576D-C535-4135-A46F-39C49A43AB6A}" type="sibTrans" cxnId="{EFB3948A-AE7E-4625-B2DF-579A1818A98C}">
      <dgm:prSet/>
      <dgm:spPr/>
      <dgm:t>
        <a:bodyPr/>
        <a:lstStyle/>
        <a:p>
          <a:endParaRPr lang="en-US"/>
        </a:p>
      </dgm:t>
    </dgm:pt>
    <dgm:pt modelId="{ADB00BDC-F84D-41C9-B5C5-9B5920AEF609}" type="parTrans" cxnId="{EFB3948A-AE7E-4625-B2DF-579A1818A98C}">
      <dgm:prSet/>
      <dgm:spPr/>
      <dgm:t>
        <a:bodyPr/>
        <a:lstStyle/>
        <a:p>
          <a:endParaRPr lang="en-US"/>
        </a:p>
      </dgm:t>
    </dgm:pt>
    <dgm:pt modelId="{A49A3FAA-BBC3-440F-9C8E-03C2850E07A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MODEL 2: DEMAND PREDICTION (REGRESSION)                                    </a:t>
          </a:r>
        </a:p>
      </dgm:t>
    </dgm:pt>
    <dgm:pt modelId="{3D6D2710-9879-41F3-A3A3-F4760768FBA4}" type="sibTrans" cxnId="{8D66FEF1-10F7-4D16-93F6-D0DC513CB8F0}">
      <dgm:prSet/>
      <dgm:spPr/>
      <dgm:t>
        <a:bodyPr/>
        <a:lstStyle/>
        <a:p>
          <a:endParaRPr lang="en-US"/>
        </a:p>
      </dgm:t>
    </dgm:pt>
    <dgm:pt modelId="{B52D8920-8AD2-4675-B158-070698B4371E}" type="parTrans" cxnId="{8D66FEF1-10F7-4D16-93F6-D0DC513CB8F0}">
      <dgm:prSet/>
      <dgm:spPr/>
      <dgm:t>
        <a:bodyPr/>
        <a:lstStyle/>
        <a:p>
          <a:endParaRPr lang="en-US"/>
        </a:p>
      </dgm:t>
    </dgm:pt>
    <dgm:pt modelId="{B6E1BAA8-C943-4651-BABA-B88198A72F8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INPUT: PREVIOUS DEMAND + RAIN PREDICTION                                        </a:t>
          </a:r>
        </a:p>
      </dgm:t>
    </dgm:pt>
    <dgm:pt modelId="{A3C01A5A-5151-416C-80D6-4D6EED1DE83C}" type="sibTrans" cxnId="{20767788-C355-462A-9EE1-A42FBEF16673}">
      <dgm:prSet/>
      <dgm:spPr/>
      <dgm:t>
        <a:bodyPr/>
        <a:lstStyle/>
        <a:p>
          <a:endParaRPr lang="en-US"/>
        </a:p>
      </dgm:t>
    </dgm:pt>
    <dgm:pt modelId="{EBA1DCFF-FFA0-409C-9160-8A7ED0850B8D}" type="parTrans" cxnId="{20767788-C355-462A-9EE1-A42FBEF16673}">
      <dgm:prSet/>
      <dgm:spPr/>
      <dgm:t>
        <a:bodyPr/>
        <a:lstStyle/>
        <a:p>
          <a:endParaRPr lang="en-US"/>
        </a:p>
      </dgm:t>
    </dgm:pt>
    <dgm:pt modelId="{74D43172-0A14-453E-B17C-A0C7CBA2D5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OUTPUT: NEXT-DAY DEMAND FORECAST                                                     </a:t>
          </a:r>
        </a:p>
      </dgm:t>
    </dgm:pt>
    <dgm:pt modelId="{CE18CBD4-5B85-4A9F-93FF-22FDCEB4F5D2}" type="sibTrans" cxnId="{64BD9ABF-E2B7-438E-B75B-5BEA4647C685}">
      <dgm:prSet/>
      <dgm:spPr/>
      <dgm:t>
        <a:bodyPr/>
        <a:lstStyle/>
        <a:p>
          <a:endParaRPr lang="en-US"/>
        </a:p>
      </dgm:t>
    </dgm:pt>
    <dgm:pt modelId="{323468B0-B716-4983-911A-74719DA55B23}" type="parTrans" cxnId="{64BD9ABF-E2B7-438E-B75B-5BEA4647C685}">
      <dgm:prSet/>
      <dgm:spPr/>
      <dgm:t>
        <a:bodyPr/>
        <a:lstStyle/>
        <a:p>
          <a:endParaRPr lang="en-US"/>
        </a:p>
      </dgm:t>
    </dgm:pt>
    <dgm:pt modelId="{EABCFCD3-20FC-415D-B806-778462CBB4B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THIS HELPS IN INTELLIGENT BUFFER STOCK MANAGEMENT.                    </a:t>
          </a:r>
        </a:p>
      </dgm:t>
    </dgm:pt>
    <dgm:pt modelId="{B1C974E7-88E1-4E27-81D4-6878B0D895AD}" type="sibTrans" cxnId="{D8946216-597D-4F28-8A63-4654E4141609}">
      <dgm:prSet/>
      <dgm:spPr/>
      <dgm:t>
        <a:bodyPr/>
        <a:lstStyle/>
        <a:p>
          <a:endParaRPr lang="en-US"/>
        </a:p>
      </dgm:t>
    </dgm:pt>
    <dgm:pt modelId="{4B4F5880-EE66-4B1A-A252-3483BEE1E8BF}" type="parTrans" cxnId="{D8946216-597D-4F28-8A63-4654E4141609}">
      <dgm:prSet/>
      <dgm:spPr/>
      <dgm:t>
        <a:bodyPr/>
        <a:lstStyle/>
        <a:p>
          <a:endParaRPr lang="en-US"/>
        </a:p>
      </dgm:t>
    </dgm:pt>
    <dgm:pt modelId="{B6E53EBF-34BF-42C6-A824-4381CD27871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OUTPUT: RAIN / NO RAIN                                                                                </a:t>
          </a:r>
        </a:p>
      </dgm:t>
    </dgm:pt>
    <dgm:pt modelId="{D6A30B71-CAF8-498D-8C5B-F12ED2FB65AF}" type="parTrans" cxnId="{1E9C1124-E234-4141-8660-1E67B89AA664}">
      <dgm:prSet/>
      <dgm:spPr/>
      <dgm:t>
        <a:bodyPr/>
        <a:lstStyle/>
        <a:p>
          <a:endParaRPr lang="en-US"/>
        </a:p>
      </dgm:t>
    </dgm:pt>
    <dgm:pt modelId="{07D0E589-2353-45E7-B597-49DB6BC616C2}" type="sibTrans" cxnId="{1E9C1124-E234-4141-8660-1E67B89AA664}">
      <dgm:prSet/>
      <dgm:spPr/>
      <dgm:t>
        <a:bodyPr/>
        <a:lstStyle/>
        <a:p>
          <a:endParaRPr lang="en-US"/>
        </a:p>
      </dgm:t>
    </dgm:pt>
    <dgm:pt modelId="{E4C95807-B87D-4A6F-BC06-55A24BFE1881}" type="pres">
      <dgm:prSet presAssocID="{AC3650D4-BFDF-44D2-BD6F-202C1A409C92}" presName="root" presStyleCnt="0">
        <dgm:presLayoutVars>
          <dgm:dir/>
          <dgm:resizeHandles val="exact"/>
        </dgm:presLayoutVars>
      </dgm:prSet>
      <dgm:spPr/>
    </dgm:pt>
    <dgm:pt modelId="{8B793717-C749-411F-837B-FE0E7E03C180}" type="pres">
      <dgm:prSet presAssocID="{DBF4DD1B-14BC-4109-8618-960FC0CCD825}" presName="compNode" presStyleCnt="0"/>
      <dgm:spPr/>
    </dgm:pt>
    <dgm:pt modelId="{DCC5C620-A840-4449-B79A-70A835E981FD}" type="pres">
      <dgm:prSet presAssocID="{DBF4DD1B-14BC-4109-8618-960FC0CCD825}" presName="bgRect" presStyleLbl="bgShp" presStyleIdx="0" presStyleCnt="4"/>
      <dgm:spPr/>
    </dgm:pt>
    <dgm:pt modelId="{39639050-5AAD-4969-8258-ADCE98235BD0}" type="pres">
      <dgm:prSet presAssocID="{DBF4DD1B-14BC-4109-8618-960FC0CCD82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C107A024-B19E-4A35-9A71-B6519F70D9AC}" type="pres">
      <dgm:prSet presAssocID="{DBF4DD1B-14BC-4109-8618-960FC0CCD825}" presName="spaceRect" presStyleCnt="0"/>
      <dgm:spPr/>
    </dgm:pt>
    <dgm:pt modelId="{FE0D70E6-09C8-4334-940D-DF28F56D5229}" type="pres">
      <dgm:prSet presAssocID="{DBF4DD1B-14BC-4109-8618-960FC0CCD825}" presName="parTx" presStyleLbl="revTx" presStyleIdx="0" presStyleCnt="6">
        <dgm:presLayoutVars>
          <dgm:chMax val="0"/>
          <dgm:chPref val="0"/>
        </dgm:presLayoutVars>
      </dgm:prSet>
      <dgm:spPr/>
    </dgm:pt>
    <dgm:pt modelId="{93E0A4C5-0BF6-440A-A04C-D4955F7C6FFE}" type="pres">
      <dgm:prSet presAssocID="{01B9A3E3-63D5-462D-9D06-410B85374722}" presName="sibTrans" presStyleCnt="0"/>
      <dgm:spPr/>
    </dgm:pt>
    <dgm:pt modelId="{CB820184-5C93-4997-AE21-7E0EBD14D91D}" type="pres">
      <dgm:prSet presAssocID="{2E527380-FB45-4C54-B2E7-701DAD5508B2}" presName="compNode" presStyleCnt="0"/>
      <dgm:spPr/>
    </dgm:pt>
    <dgm:pt modelId="{E141669B-E6E5-408C-BAEB-54327BE5F4B6}" type="pres">
      <dgm:prSet presAssocID="{2E527380-FB45-4C54-B2E7-701DAD5508B2}" presName="bgRect" presStyleLbl="bgShp" presStyleIdx="1" presStyleCnt="4"/>
      <dgm:spPr/>
    </dgm:pt>
    <dgm:pt modelId="{BFBCFACE-2EAF-4FEA-8247-352DE2AEFDCF}" type="pres">
      <dgm:prSet presAssocID="{2E527380-FB45-4C54-B2E7-701DAD5508B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A67B9C66-FCFA-4FCC-ACE6-D9151B1D63E9}" type="pres">
      <dgm:prSet presAssocID="{2E527380-FB45-4C54-B2E7-701DAD5508B2}" presName="spaceRect" presStyleCnt="0"/>
      <dgm:spPr/>
    </dgm:pt>
    <dgm:pt modelId="{2B442E3B-789E-45EC-8E87-B02593F420B8}" type="pres">
      <dgm:prSet presAssocID="{2E527380-FB45-4C54-B2E7-701DAD5508B2}" presName="parTx" presStyleLbl="revTx" presStyleIdx="1" presStyleCnt="6">
        <dgm:presLayoutVars>
          <dgm:chMax val="0"/>
          <dgm:chPref val="0"/>
        </dgm:presLayoutVars>
      </dgm:prSet>
      <dgm:spPr/>
    </dgm:pt>
    <dgm:pt modelId="{E0FE5CB5-922D-493A-AE13-350C5D216090}" type="pres">
      <dgm:prSet presAssocID="{2E527380-FB45-4C54-B2E7-701DAD5508B2}" presName="desTx" presStyleLbl="revTx" presStyleIdx="2" presStyleCnt="6">
        <dgm:presLayoutVars/>
      </dgm:prSet>
      <dgm:spPr/>
    </dgm:pt>
    <dgm:pt modelId="{31D4AF04-26B8-4DED-9958-98F8163DC1D9}" type="pres">
      <dgm:prSet presAssocID="{407053A7-1BD0-41D8-982E-ECA7BD36130E}" presName="sibTrans" presStyleCnt="0"/>
      <dgm:spPr/>
    </dgm:pt>
    <dgm:pt modelId="{4E8E1564-6708-4F8D-AB0F-A8380FAA7D88}" type="pres">
      <dgm:prSet presAssocID="{A49A3FAA-BBC3-440F-9C8E-03C2850E07A2}" presName="compNode" presStyleCnt="0"/>
      <dgm:spPr/>
    </dgm:pt>
    <dgm:pt modelId="{F801058A-25A6-4DB9-9BE3-564C3E7E2418}" type="pres">
      <dgm:prSet presAssocID="{A49A3FAA-BBC3-440F-9C8E-03C2850E07A2}" presName="bgRect" presStyleLbl="bgShp" presStyleIdx="2" presStyleCnt="4"/>
      <dgm:spPr/>
    </dgm:pt>
    <dgm:pt modelId="{168B1F18-02DE-42F1-B91F-1C61314A3908}" type="pres">
      <dgm:prSet presAssocID="{A49A3FAA-BBC3-440F-9C8E-03C2850E07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9C9D8418-6373-4589-B9E8-3230DBD8F290}" type="pres">
      <dgm:prSet presAssocID="{A49A3FAA-BBC3-440F-9C8E-03C2850E07A2}" presName="spaceRect" presStyleCnt="0"/>
      <dgm:spPr/>
    </dgm:pt>
    <dgm:pt modelId="{A4E05FCF-61B1-41B3-B420-CDC5BF006A52}" type="pres">
      <dgm:prSet presAssocID="{A49A3FAA-BBC3-440F-9C8E-03C2850E07A2}" presName="parTx" presStyleLbl="revTx" presStyleIdx="3" presStyleCnt="6">
        <dgm:presLayoutVars>
          <dgm:chMax val="0"/>
          <dgm:chPref val="0"/>
        </dgm:presLayoutVars>
      </dgm:prSet>
      <dgm:spPr/>
    </dgm:pt>
    <dgm:pt modelId="{9D769C45-CDDE-499F-BF43-120EF6D353D2}" type="pres">
      <dgm:prSet presAssocID="{A49A3FAA-BBC3-440F-9C8E-03C2850E07A2}" presName="desTx" presStyleLbl="revTx" presStyleIdx="4" presStyleCnt="6">
        <dgm:presLayoutVars/>
      </dgm:prSet>
      <dgm:spPr/>
    </dgm:pt>
    <dgm:pt modelId="{DD18A221-435D-4520-AC42-E2B7856F0F74}" type="pres">
      <dgm:prSet presAssocID="{3D6D2710-9879-41F3-A3A3-F4760768FBA4}" presName="sibTrans" presStyleCnt="0"/>
      <dgm:spPr/>
    </dgm:pt>
    <dgm:pt modelId="{BA674B15-887D-4808-A581-B14A12D03E2B}" type="pres">
      <dgm:prSet presAssocID="{EABCFCD3-20FC-415D-B806-778462CBB4B7}" presName="compNode" presStyleCnt="0"/>
      <dgm:spPr/>
    </dgm:pt>
    <dgm:pt modelId="{A81000E9-D04D-4826-87F8-A6B8A0379C56}" type="pres">
      <dgm:prSet presAssocID="{EABCFCD3-20FC-415D-B806-778462CBB4B7}" presName="bgRect" presStyleLbl="bgShp" presStyleIdx="3" presStyleCnt="4"/>
      <dgm:spPr/>
    </dgm:pt>
    <dgm:pt modelId="{58267B44-0101-4E29-908D-BDF917C40B26}" type="pres">
      <dgm:prSet presAssocID="{EABCFCD3-20FC-415D-B806-778462CBB4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</dgm:pt>
    <dgm:pt modelId="{13A682AE-8E0D-43D2-9ED5-31F0DFAACC86}" type="pres">
      <dgm:prSet presAssocID="{EABCFCD3-20FC-415D-B806-778462CBB4B7}" presName="spaceRect" presStyleCnt="0"/>
      <dgm:spPr/>
    </dgm:pt>
    <dgm:pt modelId="{5027DE76-E2A1-41B4-9A6F-EEF2AD571858}" type="pres">
      <dgm:prSet presAssocID="{EABCFCD3-20FC-415D-B806-778462CBB4B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4F3230A-0879-4068-8585-F79E1CC7C451}" type="presOf" srcId="{DBF4DD1B-14BC-4109-8618-960FC0CCD825}" destId="{FE0D70E6-09C8-4334-940D-DF28F56D5229}" srcOrd="0" destOrd="0" presId="urn:microsoft.com/office/officeart/2018/2/layout/IconVerticalSolidList"/>
    <dgm:cxn modelId="{D8946216-597D-4F28-8A63-4654E4141609}" srcId="{AC3650D4-BFDF-44D2-BD6F-202C1A409C92}" destId="{EABCFCD3-20FC-415D-B806-778462CBB4B7}" srcOrd="3" destOrd="0" parTransId="{4B4F5880-EE66-4B1A-A252-3483BEE1E8BF}" sibTransId="{B1C974E7-88E1-4E27-81D4-6878B0D895AD}"/>
    <dgm:cxn modelId="{673AFD18-D148-44EB-8E96-F5EFA7706C3D}" type="presOf" srcId="{B6E1BAA8-C943-4651-BABA-B88198A72F8F}" destId="{9D769C45-CDDE-499F-BF43-120EF6D353D2}" srcOrd="0" destOrd="0" presId="urn:microsoft.com/office/officeart/2018/2/layout/IconVerticalSolidList"/>
    <dgm:cxn modelId="{1E9C1124-E234-4141-8660-1E67B89AA664}" srcId="{2E527380-FB45-4C54-B2E7-701DAD5508B2}" destId="{B6E53EBF-34BF-42C6-A824-4381CD278715}" srcOrd="1" destOrd="0" parTransId="{D6A30B71-CAF8-498D-8C5B-F12ED2FB65AF}" sibTransId="{07D0E589-2353-45E7-B597-49DB6BC616C2}"/>
    <dgm:cxn modelId="{24109129-333E-463A-A7FD-A9C3138A4A23}" srcId="{AC3650D4-BFDF-44D2-BD6F-202C1A409C92}" destId="{2E527380-FB45-4C54-B2E7-701DAD5508B2}" srcOrd="1" destOrd="0" parTransId="{F2696F67-E976-4943-B5F4-E8AD77AE85D9}" sibTransId="{407053A7-1BD0-41D8-982E-ECA7BD36130E}"/>
    <dgm:cxn modelId="{4C509F5D-2F4D-4A9D-B1EC-1D799FD2D958}" type="presOf" srcId="{AC3650D4-BFDF-44D2-BD6F-202C1A409C92}" destId="{E4C95807-B87D-4A6F-BC06-55A24BFE1881}" srcOrd="0" destOrd="0" presId="urn:microsoft.com/office/officeart/2018/2/layout/IconVerticalSolidList"/>
    <dgm:cxn modelId="{FF66017B-1795-471C-B4EB-8E93B2186D7D}" type="presOf" srcId="{B6E53EBF-34BF-42C6-A824-4381CD278715}" destId="{E0FE5CB5-922D-493A-AE13-350C5D216090}" srcOrd="0" destOrd="1" presId="urn:microsoft.com/office/officeart/2018/2/layout/IconVerticalSolidList"/>
    <dgm:cxn modelId="{20767788-C355-462A-9EE1-A42FBEF16673}" srcId="{A49A3FAA-BBC3-440F-9C8E-03C2850E07A2}" destId="{B6E1BAA8-C943-4651-BABA-B88198A72F8F}" srcOrd="0" destOrd="0" parTransId="{EBA1DCFF-FFA0-409C-9160-8A7ED0850B8D}" sibTransId="{A3C01A5A-5151-416C-80D6-4D6EED1DE83C}"/>
    <dgm:cxn modelId="{EFB3948A-AE7E-4625-B2DF-579A1818A98C}" srcId="{2E527380-FB45-4C54-B2E7-701DAD5508B2}" destId="{3FCC1DA7-AA3F-4819-AE85-7E38772376C9}" srcOrd="0" destOrd="0" parTransId="{ADB00BDC-F84D-41C9-B5C5-9B5920AEF609}" sibTransId="{4B88576D-C535-4135-A46F-39C49A43AB6A}"/>
    <dgm:cxn modelId="{C55170B6-BF75-4299-BA96-E5BF637E790F}" type="presOf" srcId="{A49A3FAA-BBC3-440F-9C8E-03C2850E07A2}" destId="{A4E05FCF-61B1-41B3-B420-CDC5BF006A52}" srcOrd="0" destOrd="0" presId="urn:microsoft.com/office/officeart/2018/2/layout/IconVerticalSolidList"/>
    <dgm:cxn modelId="{64BD9ABF-E2B7-438E-B75B-5BEA4647C685}" srcId="{A49A3FAA-BBC3-440F-9C8E-03C2850E07A2}" destId="{74D43172-0A14-453E-B17C-A0C7CBA2D558}" srcOrd="1" destOrd="0" parTransId="{323468B0-B716-4983-911A-74719DA55B23}" sibTransId="{CE18CBD4-5B85-4A9F-93FF-22FDCEB4F5D2}"/>
    <dgm:cxn modelId="{3932E4C7-83FB-4AB7-8752-685FDF1040E1}" type="presOf" srcId="{3FCC1DA7-AA3F-4819-AE85-7E38772376C9}" destId="{E0FE5CB5-922D-493A-AE13-350C5D216090}" srcOrd="0" destOrd="0" presId="urn:microsoft.com/office/officeart/2018/2/layout/IconVerticalSolidList"/>
    <dgm:cxn modelId="{8C2F98CA-C405-49C9-9189-A7CD8CF400B1}" srcId="{AC3650D4-BFDF-44D2-BD6F-202C1A409C92}" destId="{DBF4DD1B-14BC-4109-8618-960FC0CCD825}" srcOrd="0" destOrd="0" parTransId="{F81588D6-99E0-4422-BD89-9B05B3C6E75F}" sibTransId="{01B9A3E3-63D5-462D-9D06-410B85374722}"/>
    <dgm:cxn modelId="{8FDB1FD8-BE22-4154-BF1F-7DAEA2AA844C}" type="presOf" srcId="{2E527380-FB45-4C54-B2E7-701DAD5508B2}" destId="{2B442E3B-789E-45EC-8E87-B02593F420B8}" srcOrd="0" destOrd="0" presId="urn:microsoft.com/office/officeart/2018/2/layout/IconVerticalSolidList"/>
    <dgm:cxn modelId="{2A0EC7DE-FB93-4C06-998D-C9F8B33083E7}" type="presOf" srcId="{74D43172-0A14-453E-B17C-A0C7CBA2D558}" destId="{9D769C45-CDDE-499F-BF43-120EF6D353D2}" srcOrd="0" destOrd="1" presId="urn:microsoft.com/office/officeart/2018/2/layout/IconVerticalSolidList"/>
    <dgm:cxn modelId="{5D1A12E5-3299-40A3-8DBD-DE89E0DF28D6}" type="presOf" srcId="{EABCFCD3-20FC-415D-B806-778462CBB4B7}" destId="{5027DE76-E2A1-41B4-9A6F-EEF2AD571858}" srcOrd="0" destOrd="0" presId="urn:microsoft.com/office/officeart/2018/2/layout/IconVerticalSolidList"/>
    <dgm:cxn modelId="{8D66FEF1-10F7-4D16-93F6-D0DC513CB8F0}" srcId="{AC3650D4-BFDF-44D2-BD6F-202C1A409C92}" destId="{A49A3FAA-BBC3-440F-9C8E-03C2850E07A2}" srcOrd="2" destOrd="0" parTransId="{B52D8920-8AD2-4675-B158-070698B4371E}" sibTransId="{3D6D2710-9879-41F3-A3A3-F4760768FBA4}"/>
    <dgm:cxn modelId="{A4BE3B8C-2444-4CC7-BAB5-D949C817BBA3}" type="presParOf" srcId="{E4C95807-B87D-4A6F-BC06-55A24BFE1881}" destId="{8B793717-C749-411F-837B-FE0E7E03C180}" srcOrd="0" destOrd="0" presId="urn:microsoft.com/office/officeart/2018/2/layout/IconVerticalSolidList"/>
    <dgm:cxn modelId="{9EB2D69D-6DE9-4543-9ED4-8FE793A02E60}" type="presParOf" srcId="{8B793717-C749-411F-837B-FE0E7E03C180}" destId="{DCC5C620-A840-4449-B79A-70A835E981FD}" srcOrd="0" destOrd="0" presId="urn:microsoft.com/office/officeart/2018/2/layout/IconVerticalSolidList"/>
    <dgm:cxn modelId="{3F6591E4-5A07-46C4-8C83-E1EE99CD6C1D}" type="presParOf" srcId="{8B793717-C749-411F-837B-FE0E7E03C180}" destId="{39639050-5AAD-4969-8258-ADCE98235BD0}" srcOrd="1" destOrd="0" presId="urn:microsoft.com/office/officeart/2018/2/layout/IconVerticalSolidList"/>
    <dgm:cxn modelId="{10AFB801-2720-40F1-85DA-587B33E72757}" type="presParOf" srcId="{8B793717-C749-411F-837B-FE0E7E03C180}" destId="{C107A024-B19E-4A35-9A71-B6519F70D9AC}" srcOrd="2" destOrd="0" presId="urn:microsoft.com/office/officeart/2018/2/layout/IconVerticalSolidList"/>
    <dgm:cxn modelId="{92090706-30C9-477A-A60D-CF301D99D463}" type="presParOf" srcId="{8B793717-C749-411F-837B-FE0E7E03C180}" destId="{FE0D70E6-09C8-4334-940D-DF28F56D5229}" srcOrd="3" destOrd="0" presId="urn:microsoft.com/office/officeart/2018/2/layout/IconVerticalSolidList"/>
    <dgm:cxn modelId="{F5C47B06-3FB9-43E8-A9B1-ED62A0417531}" type="presParOf" srcId="{E4C95807-B87D-4A6F-BC06-55A24BFE1881}" destId="{93E0A4C5-0BF6-440A-A04C-D4955F7C6FFE}" srcOrd="1" destOrd="0" presId="urn:microsoft.com/office/officeart/2018/2/layout/IconVerticalSolidList"/>
    <dgm:cxn modelId="{E22485CD-E64C-4B92-966F-DBE239B546A3}" type="presParOf" srcId="{E4C95807-B87D-4A6F-BC06-55A24BFE1881}" destId="{CB820184-5C93-4997-AE21-7E0EBD14D91D}" srcOrd="2" destOrd="0" presId="urn:microsoft.com/office/officeart/2018/2/layout/IconVerticalSolidList"/>
    <dgm:cxn modelId="{2F8EE19D-8A5E-4364-8780-033A4CA022A4}" type="presParOf" srcId="{CB820184-5C93-4997-AE21-7E0EBD14D91D}" destId="{E141669B-E6E5-408C-BAEB-54327BE5F4B6}" srcOrd="0" destOrd="0" presId="urn:microsoft.com/office/officeart/2018/2/layout/IconVerticalSolidList"/>
    <dgm:cxn modelId="{8A208D70-AE83-4EDC-B450-38464F04BF01}" type="presParOf" srcId="{CB820184-5C93-4997-AE21-7E0EBD14D91D}" destId="{BFBCFACE-2EAF-4FEA-8247-352DE2AEFDCF}" srcOrd="1" destOrd="0" presId="urn:microsoft.com/office/officeart/2018/2/layout/IconVerticalSolidList"/>
    <dgm:cxn modelId="{778D992B-B6EE-4517-A352-0671B16FE1F0}" type="presParOf" srcId="{CB820184-5C93-4997-AE21-7E0EBD14D91D}" destId="{A67B9C66-FCFA-4FCC-ACE6-D9151B1D63E9}" srcOrd="2" destOrd="0" presId="urn:microsoft.com/office/officeart/2018/2/layout/IconVerticalSolidList"/>
    <dgm:cxn modelId="{91EFCC2C-0955-4CFF-8168-59F7989AC957}" type="presParOf" srcId="{CB820184-5C93-4997-AE21-7E0EBD14D91D}" destId="{2B442E3B-789E-45EC-8E87-B02593F420B8}" srcOrd="3" destOrd="0" presId="urn:microsoft.com/office/officeart/2018/2/layout/IconVerticalSolidList"/>
    <dgm:cxn modelId="{76FC459B-AE3E-41B8-87B4-9B82E5B55BBF}" type="presParOf" srcId="{CB820184-5C93-4997-AE21-7E0EBD14D91D}" destId="{E0FE5CB5-922D-493A-AE13-350C5D216090}" srcOrd="4" destOrd="0" presId="urn:microsoft.com/office/officeart/2018/2/layout/IconVerticalSolidList"/>
    <dgm:cxn modelId="{5A396707-072D-4B08-91AD-AE7F869A4417}" type="presParOf" srcId="{E4C95807-B87D-4A6F-BC06-55A24BFE1881}" destId="{31D4AF04-26B8-4DED-9958-98F8163DC1D9}" srcOrd="3" destOrd="0" presId="urn:microsoft.com/office/officeart/2018/2/layout/IconVerticalSolidList"/>
    <dgm:cxn modelId="{9D634211-4C74-43E2-B5D1-E29CDB6D7781}" type="presParOf" srcId="{E4C95807-B87D-4A6F-BC06-55A24BFE1881}" destId="{4E8E1564-6708-4F8D-AB0F-A8380FAA7D88}" srcOrd="4" destOrd="0" presId="urn:microsoft.com/office/officeart/2018/2/layout/IconVerticalSolidList"/>
    <dgm:cxn modelId="{1AEA3FCF-CB2C-4257-99BC-F4E750D3EC40}" type="presParOf" srcId="{4E8E1564-6708-4F8D-AB0F-A8380FAA7D88}" destId="{F801058A-25A6-4DB9-9BE3-564C3E7E2418}" srcOrd="0" destOrd="0" presId="urn:microsoft.com/office/officeart/2018/2/layout/IconVerticalSolidList"/>
    <dgm:cxn modelId="{A6BA712B-8DBC-4115-B80C-C36CD751F888}" type="presParOf" srcId="{4E8E1564-6708-4F8D-AB0F-A8380FAA7D88}" destId="{168B1F18-02DE-42F1-B91F-1C61314A3908}" srcOrd="1" destOrd="0" presId="urn:microsoft.com/office/officeart/2018/2/layout/IconVerticalSolidList"/>
    <dgm:cxn modelId="{F4F562AA-9C7D-4576-924E-5E8375BFBB89}" type="presParOf" srcId="{4E8E1564-6708-4F8D-AB0F-A8380FAA7D88}" destId="{9C9D8418-6373-4589-B9E8-3230DBD8F290}" srcOrd="2" destOrd="0" presId="urn:microsoft.com/office/officeart/2018/2/layout/IconVerticalSolidList"/>
    <dgm:cxn modelId="{45D865EC-F524-4A81-B3B5-E2A32EC70953}" type="presParOf" srcId="{4E8E1564-6708-4F8D-AB0F-A8380FAA7D88}" destId="{A4E05FCF-61B1-41B3-B420-CDC5BF006A52}" srcOrd="3" destOrd="0" presId="urn:microsoft.com/office/officeart/2018/2/layout/IconVerticalSolidList"/>
    <dgm:cxn modelId="{1A717E18-8475-4765-8716-60F4670897BF}" type="presParOf" srcId="{4E8E1564-6708-4F8D-AB0F-A8380FAA7D88}" destId="{9D769C45-CDDE-499F-BF43-120EF6D353D2}" srcOrd="4" destOrd="0" presId="urn:microsoft.com/office/officeart/2018/2/layout/IconVerticalSolidList"/>
    <dgm:cxn modelId="{AEF463FE-A498-4D2B-B3C0-42B650E6F9D3}" type="presParOf" srcId="{E4C95807-B87D-4A6F-BC06-55A24BFE1881}" destId="{DD18A221-435D-4520-AC42-E2B7856F0F74}" srcOrd="5" destOrd="0" presId="urn:microsoft.com/office/officeart/2018/2/layout/IconVerticalSolidList"/>
    <dgm:cxn modelId="{245F0396-33B4-413C-A6FA-19CCE21AE3EC}" type="presParOf" srcId="{E4C95807-B87D-4A6F-BC06-55A24BFE1881}" destId="{BA674B15-887D-4808-A581-B14A12D03E2B}" srcOrd="6" destOrd="0" presId="urn:microsoft.com/office/officeart/2018/2/layout/IconVerticalSolidList"/>
    <dgm:cxn modelId="{EA43532E-49BF-433E-BEE5-29EE3C348874}" type="presParOf" srcId="{BA674B15-887D-4808-A581-B14A12D03E2B}" destId="{A81000E9-D04D-4826-87F8-A6B8A0379C56}" srcOrd="0" destOrd="0" presId="urn:microsoft.com/office/officeart/2018/2/layout/IconVerticalSolidList"/>
    <dgm:cxn modelId="{34F9226E-AE0A-4EEE-9725-902D5556DB0E}" type="presParOf" srcId="{BA674B15-887D-4808-A581-B14A12D03E2B}" destId="{58267B44-0101-4E29-908D-BDF917C40B26}" srcOrd="1" destOrd="0" presId="urn:microsoft.com/office/officeart/2018/2/layout/IconVerticalSolidList"/>
    <dgm:cxn modelId="{246CBE0E-D87A-4565-B712-CEDE60343C38}" type="presParOf" srcId="{BA674B15-887D-4808-A581-B14A12D03E2B}" destId="{13A682AE-8E0D-43D2-9ED5-31F0DFAACC86}" srcOrd="2" destOrd="0" presId="urn:microsoft.com/office/officeart/2018/2/layout/IconVerticalSolidList"/>
    <dgm:cxn modelId="{D1F2C26A-4778-48F5-A188-BA7750ED9356}" type="presParOf" srcId="{BA674B15-887D-4808-A581-B14A12D03E2B}" destId="{5027DE76-E2A1-41B4-9A6F-EEF2AD5718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C5C620-A840-4449-B79A-70A835E981FD}">
      <dsp:nvSpPr>
        <dsp:cNvPr id="0" name=""/>
        <dsp:cNvSpPr/>
      </dsp:nvSpPr>
      <dsp:spPr>
        <a:xfrm>
          <a:off x="0" y="7508"/>
          <a:ext cx="9417842" cy="1747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39050-5AAD-4969-8258-ADCE98235BD0}">
      <dsp:nvSpPr>
        <dsp:cNvPr id="0" name=""/>
        <dsp:cNvSpPr/>
      </dsp:nvSpPr>
      <dsp:spPr>
        <a:xfrm>
          <a:off x="528598" y="400680"/>
          <a:ext cx="961088" cy="9610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D70E6-09C8-4334-940D-DF28F56D5229}">
      <dsp:nvSpPr>
        <dsp:cNvPr id="0" name=""/>
        <dsp:cNvSpPr/>
      </dsp:nvSpPr>
      <dsp:spPr>
        <a:xfrm>
          <a:off x="2018285" y="7508"/>
          <a:ext cx="7397584" cy="1747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37" tIns="184937" rIns="184937" bIns="18493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ML MODELS USED                                                                                      </a:t>
          </a:r>
        </a:p>
      </dsp:txBody>
      <dsp:txXfrm>
        <a:off x="2018285" y="7508"/>
        <a:ext cx="7397584" cy="1747433"/>
      </dsp:txXfrm>
    </dsp:sp>
    <dsp:sp modelId="{E141669B-E6E5-408C-BAEB-54327BE5F4B6}">
      <dsp:nvSpPr>
        <dsp:cNvPr id="0" name=""/>
        <dsp:cNvSpPr/>
      </dsp:nvSpPr>
      <dsp:spPr>
        <a:xfrm>
          <a:off x="0" y="2191799"/>
          <a:ext cx="9417842" cy="1747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CFACE-2EAF-4FEA-8247-352DE2AEFDCF}">
      <dsp:nvSpPr>
        <dsp:cNvPr id="0" name=""/>
        <dsp:cNvSpPr/>
      </dsp:nvSpPr>
      <dsp:spPr>
        <a:xfrm>
          <a:off x="528598" y="2584972"/>
          <a:ext cx="961088" cy="9610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42E3B-789E-45EC-8E87-B02593F420B8}">
      <dsp:nvSpPr>
        <dsp:cNvPr id="0" name=""/>
        <dsp:cNvSpPr/>
      </dsp:nvSpPr>
      <dsp:spPr>
        <a:xfrm>
          <a:off x="2018285" y="2191799"/>
          <a:ext cx="4238029" cy="1747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37" tIns="184937" rIns="184937" bIns="18493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MODEL 1: RAIN PREDICTION (CLASSIFICATION)                                        </a:t>
          </a:r>
        </a:p>
      </dsp:txBody>
      <dsp:txXfrm>
        <a:off x="2018285" y="2191799"/>
        <a:ext cx="4238029" cy="1747433"/>
      </dsp:txXfrm>
    </dsp:sp>
    <dsp:sp modelId="{E0FE5CB5-922D-493A-AE13-350C5D216090}">
      <dsp:nvSpPr>
        <dsp:cNvPr id="0" name=""/>
        <dsp:cNvSpPr/>
      </dsp:nvSpPr>
      <dsp:spPr>
        <a:xfrm>
          <a:off x="6256314" y="2191799"/>
          <a:ext cx="3159555" cy="1747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37" tIns="184937" rIns="184937" bIns="18493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INPUT: TEMPERATURE, HUMIDITY                                                                 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OUTPUT: RAIN / NO RAIN                                                                                </a:t>
          </a:r>
        </a:p>
      </dsp:txBody>
      <dsp:txXfrm>
        <a:off x="6256314" y="2191799"/>
        <a:ext cx="3159555" cy="1747433"/>
      </dsp:txXfrm>
    </dsp:sp>
    <dsp:sp modelId="{F801058A-25A6-4DB9-9BE3-564C3E7E2418}">
      <dsp:nvSpPr>
        <dsp:cNvPr id="0" name=""/>
        <dsp:cNvSpPr/>
      </dsp:nvSpPr>
      <dsp:spPr>
        <a:xfrm>
          <a:off x="0" y="4376091"/>
          <a:ext cx="9417842" cy="1747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8B1F18-02DE-42F1-B91F-1C61314A3908}">
      <dsp:nvSpPr>
        <dsp:cNvPr id="0" name=""/>
        <dsp:cNvSpPr/>
      </dsp:nvSpPr>
      <dsp:spPr>
        <a:xfrm>
          <a:off x="528598" y="4769264"/>
          <a:ext cx="961088" cy="9610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05FCF-61B1-41B3-B420-CDC5BF006A52}">
      <dsp:nvSpPr>
        <dsp:cNvPr id="0" name=""/>
        <dsp:cNvSpPr/>
      </dsp:nvSpPr>
      <dsp:spPr>
        <a:xfrm>
          <a:off x="2018285" y="4376091"/>
          <a:ext cx="4238029" cy="1747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37" tIns="184937" rIns="184937" bIns="18493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MODEL 2: DEMAND PREDICTION (REGRESSION)                                    </a:t>
          </a:r>
        </a:p>
      </dsp:txBody>
      <dsp:txXfrm>
        <a:off x="2018285" y="4376091"/>
        <a:ext cx="4238029" cy="1747433"/>
      </dsp:txXfrm>
    </dsp:sp>
    <dsp:sp modelId="{9D769C45-CDDE-499F-BF43-120EF6D353D2}">
      <dsp:nvSpPr>
        <dsp:cNvPr id="0" name=""/>
        <dsp:cNvSpPr/>
      </dsp:nvSpPr>
      <dsp:spPr>
        <a:xfrm>
          <a:off x="6256314" y="4376091"/>
          <a:ext cx="3159555" cy="1747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37" tIns="184937" rIns="184937" bIns="18493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INPUT: PREVIOUS DEMAND + RAIN PREDICTION                                        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OUTPUT: NEXT-DAY DEMAND FORECAST                                                     </a:t>
          </a:r>
        </a:p>
      </dsp:txBody>
      <dsp:txXfrm>
        <a:off x="6256314" y="4376091"/>
        <a:ext cx="3159555" cy="1747433"/>
      </dsp:txXfrm>
    </dsp:sp>
    <dsp:sp modelId="{A81000E9-D04D-4826-87F8-A6B8A0379C56}">
      <dsp:nvSpPr>
        <dsp:cNvPr id="0" name=""/>
        <dsp:cNvSpPr/>
      </dsp:nvSpPr>
      <dsp:spPr>
        <a:xfrm>
          <a:off x="0" y="6560383"/>
          <a:ext cx="9417842" cy="1747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267B44-0101-4E29-908D-BDF917C40B26}">
      <dsp:nvSpPr>
        <dsp:cNvPr id="0" name=""/>
        <dsp:cNvSpPr/>
      </dsp:nvSpPr>
      <dsp:spPr>
        <a:xfrm>
          <a:off x="528598" y="6953556"/>
          <a:ext cx="961088" cy="9610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7DE76-E2A1-41B4-9A6F-EEF2AD571858}">
      <dsp:nvSpPr>
        <dsp:cNvPr id="0" name=""/>
        <dsp:cNvSpPr/>
      </dsp:nvSpPr>
      <dsp:spPr>
        <a:xfrm>
          <a:off x="2018285" y="6560383"/>
          <a:ext cx="7397584" cy="1747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37" tIns="184937" rIns="184937" bIns="18493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THIS HELPS IN INTELLIGENT BUFFER STOCK MANAGEMENT.                    </a:t>
          </a:r>
        </a:p>
      </dsp:txBody>
      <dsp:txXfrm>
        <a:off x="2018285" y="6560383"/>
        <a:ext cx="7397584" cy="1747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9F790-BEF1-43D0-BEBF-DFB5353F707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E909D-1EBA-4A24-97E9-80A6D058D7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16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E909D-1EBA-4A24-97E9-80A6D058D7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61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256" y="1155701"/>
            <a:ext cx="16173450" cy="50292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13200" spc="-18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1269" y="6310314"/>
            <a:ext cx="13842302" cy="2468880"/>
          </a:xfrm>
        </p:spPr>
        <p:txBody>
          <a:bodyPr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685800" indent="0" algn="ctr">
              <a:buNone/>
              <a:defRPr sz="42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3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0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6" y="1151129"/>
            <a:ext cx="16171164" cy="503377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32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268" y="6306314"/>
            <a:ext cx="13839444" cy="2468880"/>
          </a:xfr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4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984" y="2997201"/>
            <a:ext cx="6995160" cy="565099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16995" y="2997201"/>
            <a:ext cx="6995160" cy="565099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3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4" y="3060701"/>
            <a:ext cx="6995160" cy="1085100"/>
          </a:xfrm>
        </p:spPr>
        <p:txBody>
          <a:bodyPr anchor="ctr">
            <a:normAutofit/>
          </a:bodyPr>
          <a:lstStyle>
            <a:lvl1pPr marL="0" indent="0">
              <a:buNone/>
              <a:defRPr sz="33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4984" y="4129626"/>
            <a:ext cx="6995160" cy="4800600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11412" y="3057653"/>
            <a:ext cx="6995160" cy="1083564"/>
          </a:xfrm>
        </p:spPr>
        <p:txBody>
          <a:bodyPr anchor="ctr">
            <a:normAutofit/>
          </a:bodyPr>
          <a:lstStyle>
            <a:lvl1pPr marL="0" indent="0">
              <a:buNone/>
              <a:defRPr sz="33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11412" y="4126485"/>
            <a:ext cx="6995160" cy="4800600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9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9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392106" y="813423"/>
            <a:ext cx="5074920" cy="288036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9144000" cy="685800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13973" y="3767720"/>
            <a:ext cx="5097780" cy="4690481"/>
          </a:xfrm>
        </p:spPr>
        <p:txBody>
          <a:bodyPr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>
                <a:solidFill>
                  <a:srgbClr val="262626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2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836" y="8128001"/>
            <a:ext cx="16171164" cy="919925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8288000" cy="7996428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1200"/>
              </a:spcBef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4984" y="8864603"/>
            <a:ext cx="13844016" cy="8001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100">
                <a:solidFill>
                  <a:srgbClr val="262626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4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6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15925" y="1042988"/>
            <a:ext cx="3943350" cy="7200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7288" y="1071563"/>
            <a:ext cx="11601450" cy="8101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5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5837" y="749300"/>
            <a:ext cx="16159163" cy="2487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5" y="3017520"/>
            <a:ext cx="16130588" cy="5649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8700" y="9618671"/>
            <a:ext cx="61722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5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8700" y="9832046"/>
            <a:ext cx="7543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5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45889" y="8814619"/>
            <a:ext cx="4389120" cy="20955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545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1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8100" kern="1200" spc="-18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85000"/>
        </a:lnSpc>
        <a:spcBef>
          <a:spcPts val="1950"/>
        </a:spcBef>
        <a:buFont typeface="Arial" pitchFamily="34" charset="0"/>
        <a:buChar char=" "/>
        <a:defRPr sz="3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21208" indent="-51435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3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82296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3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234440" indent="-123444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645920" indent="-164592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8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1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4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7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awpixel.com/search/smart%20agriculture?page=1&amp;sort=curate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lo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hyperlink" Target="https://jpralves.net/post/2019/12/12/working-with-esp32-audio-sampling.html" TargetMode="External"/><Relationship Id="rId7" Type="http://schemas.openxmlformats.org/officeDocument/2006/relationships/hyperlink" Target="https://www.daraz.lk/products/ir-obstacle-avoidance-sensor-module-for-arduino-smart-car-robot-3-wire-reflective-photoelectric-i602824864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codewith.mu/en/tutorials/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jbiswas.commons.gc.cuny.edu/teachin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aqua.org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id/photo/1378070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33988" y="0"/>
            <a:ext cx="6954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259818" y="749299"/>
            <a:ext cx="5102352" cy="2880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i="1" spc="-12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DejaVu Sans Bold"/>
              </a:rPr>
              <a:t>SMART SILO MONITORING AND INTELLIGENT BUFFER STOCK MANAGEMENT SYSTEM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1F2B5F-3BDE-361E-3A57-BA0429828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7554" r="19246"/>
          <a:stretch>
            <a:fillRect/>
          </a:stretch>
        </p:blipFill>
        <p:spPr>
          <a:xfrm>
            <a:off x="0" y="-23161"/>
            <a:ext cx="11430623" cy="10310161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259818" y="3629659"/>
            <a:ext cx="5266182" cy="503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sym typeface="DejaVu Sans Bold"/>
              </a:rPr>
              <a:t>TEAM NAME: PRIME PREDATORS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endParaRPr lang="en-US" sz="2700" b="1" dirty="0">
              <a:solidFill>
                <a:schemeClr val="tx1">
                  <a:lumMod val="85000"/>
                  <a:lumOff val="15000"/>
                </a:schemeClr>
              </a:solidFill>
              <a:sym typeface="DejaVu Sans Bold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sym typeface="DejaVu Sans Bold"/>
              </a:rPr>
              <a:t>TEAM MEMBERS:  	1)T HARIHARAN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sym typeface="DejaVu Sans Bold"/>
              </a:rPr>
              <a:t>                     	         				                       2)M GANAPATHY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sym typeface="DejaVu Sans Bold"/>
              </a:rPr>
              <a:t>                      	           3)HARSHITH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endParaRPr lang="en-US" sz="2700" b="1" dirty="0">
              <a:solidFill>
                <a:schemeClr val="tx1">
                  <a:lumMod val="85000"/>
                  <a:lumOff val="15000"/>
                </a:schemeClr>
              </a:solidFill>
              <a:sym typeface="DejaVu Sans Bold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sym typeface="DejaVu Sans Bold"/>
              </a:rPr>
              <a:t>HACKATHON NAME:ELECTROHACK2.0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endParaRPr lang="en-US" sz="2700" b="1" dirty="0">
              <a:solidFill>
                <a:schemeClr val="tx1">
                  <a:lumMod val="85000"/>
                  <a:lumOff val="15000"/>
                </a:schemeClr>
              </a:solidFill>
              <a:sym typeface="DejaVu Sans Bold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sym typeface="DejaVu Sans Bold"/>
              </a:rPr>
              <a:t>DATE:08/02/2026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33988" y="0"/>
            <a:ext cx="6954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734800" y="965200"/>
            <a:ext cx="5587999" cy="4711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-12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DejaVu Sans Bold"/>
              </a:rPr>
              <a:t> PROBLEM STATEMENT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685800" y="1291231"/>
            <a:ext cx="9417843" cy="5558608"/>
            <a:chOff x="0" y="0"/>
            <a:chExt cx="15862308" cy="93622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62308" cy="9362267"/>
            </a:xfrm>
            <a:custGeom>
              <a:avLst/>
              <a:gdLst/>
              <a:ahLst/>
              <a:cxnLst/>
              <a:rect l="l" t="t" r="r" b="b"/>
              <a:pathLst>
                <a:path w="15862308" h="9362267">
                  <a:moveTo>
                    <a:pt x="0" y="9260667"/>
                  </a:moveTo>
                  <a:lnTo>
                    <a:pt x="15862308" y="9260667"/>
                  </a:lnTo>
                  <a:lnTo>
                    <a:pt x="15735308" y="9362267"/>
                  </a:lnTo>
                  <a:cubicBezTo>
                    <a:pt x="15735308" y="9362267"/>
                    <a:pt x="14744708" y="9286067"/>
                    <a:pt x="14643108" y="9286067"/>
                  </a:cubicBezTo>
                  <a:lnTo>
                    <a:pt x="1219200" y="9286067"/>
                  </a:lnTo>
                  <a:cubicBezTo>
                    <a:pt x="1117600" y="9286067"/>
                    <a:pt x="127000" y="9362267"/>
                    <a:pt x="127000" y="9362267"/>
                  </a:cubicBezTo>
                  <a:lnTo>
                    <a:pt x="0" y="9260667"/>
                  </a:lnTo>
                  <a:lnTo>
                    <a:pt x="0" y="0"/>
                  </a:lnTo>
                  <a:lnTo>
                    <a:pt x="15862308" y="0"/>
                  </a:lnTo>
                  <a:lnTo>
                    <a:pt x="15862308" y="9260667"/>
                  </a:lnTo>
                  <a:lnTo>
                    <a:pt x="12700" y="9260667"/>
                  </a:lnTo>
                  <a:lnTo>
                    <a:pt x="12700" y="9247967"/>
                  </a:lnTo>
                  <a:lnTo>
                    <a:pt x="15849608" y="9247967"/>
                  </a:lnTo>
                  <a:lnTo>
                    <a:pt x="15849608" y="12700"/>
                  </a:lnTo>
                  <a:lnTo>
                    <a:pt x="12700" y="12700"/>
                  </a:lnTo>
                  <a:lnTo>
                    <a:pt x="12700" y="9260667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50824"/>
              <a:ext cx="15862308" cy="8860617"/>
            </a:xfrm>
            <a:prstGeom prst="rect">
              <a:avLst/>
            </a:prstGeom>
          </p:spPr>
          <p:txBody>
            <a:bodyPr lIns="234089" tIns="234089" rIns="234089" bIns="234089" rtlCol="0" anchor="t"/>
            <a:lstStyle/>
            <a:p>
              <a:pPr>
                <a:lnSpc>
                  <a:spcPts val="3797"/>
                </a:lnSpc>
                <a:spcAft>
                  <a:spcPts val="600"/>
                </a:spcAft>
              </a:pP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Storage silos are essential for maintaining food supply chains, yet current systems lack intelligence and predictive capabilities.</a:t>
              </a:r>
            </a:p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Key Challenges: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real-time monitoring of grain levels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Static buffer stock thresholds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Grain spoilage due to uncontrolled temperature and humidity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Undetected gas formation and pest infestation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demand forecasting or weather-based planning</a:t>
              </a:r>
            </a:p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Impact: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Post-harvest losses (India loses ~5–10% grains annually due to poor storage)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Supply-demand mismatch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Financial loss for farmers and distributors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Increased operational inefficiency</a:t>
              </a:r>
            </a:p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Gap: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systems are reactive rather than predictive.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There is a need for an intelligent, low-cost, real-time silo monitoring and predictive buffer management system.</a:t>
              </a:r>
            </a:p>
            <a:p>
              <a:pPr>
                <a:lnSpc>
                  <a:spcPts val="3797"/>
                </a:lnSpc>
                <a:spcAft>
                  <a:spcPts val="600"/>
                </a:spcAft>
              </a:pPr>
              <a:endPara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DE2AD50-3E91-A441-B6B8-3EAAEBE8DF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52098" y="6003225"/>
            <a:ext cx="6286756" cy="40529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0080DC-787E-FEFB-7C24-8139E7DA59BE}"/>
              </a:ext>
            </a:extLst>
          </p:cNvPr>
          <p:cNvSpPr txBox="1"/>
          <p:nvPr/>
        </p:nvSpPr>
        <p:spPr>
          <a:xfrm>
            <a:off x="11333988" y="10227948"/>
            <a:ext cx="64048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en.wikipedia.org/wiki/Silo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200" y="965200"/>
            <a:ext cx="16357598" cy="2984523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9292" y="1209306"/>
            <a:ext cx="15869412" cy="2496312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607769" y="1589604"/>
            <a:ext cx="15060349" cy="1842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92086" y="4459969"/>
            <a:ext cx="15060349" cy="4354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SmartSilo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IoT-enabled decision-support system that integrates:</a:t>
            </a:r>
          </a:p>
          <a:p>
            <a:r>
              <a:rPr lang="en-US" sz="2800" dirty="0"/>
              <a:t>     </a:t>
            </a:r>
          </a:p>
          <a:p>
            <a:pPr marL="744915" lvl="1" indent="-457200" defTabSz="914400">
              <a:lnSpc>
                <a:spcPct val="8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DejaVu Sans Light"/>
              </a:rPr>
              <a:t>Real-time environmental sensing (temperature, humidity, gas levels)</a:t>
            </a:r>
          </a:p>
          <a:p>
            <a:pPr marL="744915" lvl="1" indent="-457200" defTabSz="914400">
              <a:lnSpc>
                <a:spcPct val="8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DejaVu Sans Light"/>
              </a:rPr>
              <a:t>Grain level monitoring using ultrasonic sensing</a:t>
            </a:r>
          </a:p>
          <a:p>
            <a:pPr marL="744915" lvl="1" indent="-457200" defTabSz="914400">
              <a:lnSpc>
                <a:spcPct val="8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DejaVu Sans Light"/>
              </a:rPr>
              <a:t>ML-based weather prediction</a:t>
            </a:r>
          </a:p>
          <a:p>
            <a:pPr marL="744915" lvl="1" indent="-457200" defTabSz="914400">
              <a:lnSpc>
                <a:spcPct val="8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DejaVu Sans Light"/>
              </a:rPr>
              <a:t>ML-based demand forecasting</a:t>
            </a:r>
          </a:p>
          <a:p>
            <a:pPr marL="744915" lvl="1" indent="-457200" defTabSz="914400">
              <a:lnSpc>
                <a:spcPct val="8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DejaVu Sans Light"/>
              </a:rPr>
              <a:t>Automated stock recommendation system</a:t>
            </a:r>
          </a:p>
          <a:p>
            <a:pPr marL="744915" lvl="1" indent="-457200" defTabSz="914400">
              <a:lnSpc>
                <a:spcPct val="8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DejaVu Sans Light"/>
              </a:rPr>
              <a:t>Cloud-based public dashboard visualization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B3E6E-3E4A-A8AF-A6EA-F421B3EF57A8}"/>
              </a:ext>
            </a:extLst>
          </p:cNvPr>
          <p:cNvSpPr txBox="1"/>
          <p:nvPr/>
        </p:nvSpPr>
        <p:spPr>
          <a:xfrm>
            <a:off x="11680435" y="4352118"/>
            <a:ext cx="531216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Workflow: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(ESP32)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Data Collection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ML Prediction Layer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Stock Risk Analysis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Dashboard + Alerts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It Smart?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rather than reactive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historical and real-time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actionable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scalable for rural deployment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200" y="965200"/>
            <a:ext cx="16357598" cy="2984523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9292" y="1209306"/>
            <a:ext cx="15869412" cy="2496312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607769" y="1589604"/>
            <a:ext cx="15060349" cy="1842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07769" y="4459969"/>
            <a:ext cx="15060349" cy="4354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(Grain Level)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(Temperature &amp; Humidity)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MQ135 (Gas Detection)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 (Flow Detection)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 (Automated Lid Control)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(Backend)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(Public Dashboard)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(Data Handling)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(Rain &amp; Demand Prediction)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Char char=" "/>
            </a:pP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DejaVu Sans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306719-ABF5-DBC4-E2FD-53C97617A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934934" y="4201449"/>
            <a:ext cx="4114800" cy="18036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F2E64C-8B2C-9777-4CBB-E3E4676F7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886934" y="4009775"/>
            <a:ext cx="3048000" cy="19559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D239DE-B11D-515A-8254-51FC873FEF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140644" y="5907733"/>
            <a:ext cx="2540579" cy="25405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0BCC62-FD3D-6017-2EF4-BFD44B9ADA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3430234" y="6263623"/>
            <a:ext cx="3124199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200" y="965200"/>
            <a:ext cx="16357598" cy="2984523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9292" y="1209306"/>
            <a:ext cx="15869412" cy="2496312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607769" y="1589604"/>
            <a:ext cx="15060349" cy="1842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with Sustainable Development Goals (SDGs)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7F6C67B-403D-ED25-65C7-092B6ED2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769" y="4459969"/>
            <a:ext cx="15060349" cy="43546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2 – Zero Hunger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11B82-D41C-0579-D089-B1DA80BE4764}"/>
              </a:ext>
            </a:extLst>
          </p:cNvPr>
          <p:cNvSpPr txBox="1"/>
          <p:nvPr/>
        </p:nvSpPr>
        <p:spPr>
          <a:xfrm>
            <a:off x="5791200" y="2476500"/>
            <a:ext cx="670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73FFFE-DE92-0461-7B5F-D1970691D3B4}"/>
              </a:ext>
            </a:extLst>
          </p:cNvPr>
          <p:cNvSpPr txBox="1"/>
          <p:nvPr/>
        </p:nvSpPr>
        <p:spPr>
          <a:xfrm>
            <a:off x="1607769" y="4962520"/>
            <a:ext cx="14927631" cy="7663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post-harvest grain losses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food storage efficiency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&amp;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smart infrastructure in agriculture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IoT-enabled rural digitization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– Responsible Consumption &amp;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waste through predictive buffer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data-driven inventory planning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13 – Climate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Weather-aware stock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transportation and energy waste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9CA5F8-D33B-2758-67E3-9139FF8C3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226798" y="4459969"/>
            <a:ext cx="6096000" cy="35202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200" y="965200"/>
            <a:ext cx="16357598" cy="2984523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9292" y="1209306"/>
            <a:ext cx="15869412" cy="2496312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607769" y="1589604"/>
            <a:ext cx="15060349" cy="1842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5400" b="1" dirty="0"/>
              <a:t>Real-World Applications</a:t>
            </a:r>
            <a:endParaRPr lang="en-IN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FC07F-CB05-0689-C9B8-518D6AF51772}"/>
              </a:ext>
            </a:extLst>
          </p:cNvPr>
          <p:cNvSpPr txBox="1"/>
          <p:nvPr/>
        </p:nvSpPr>
        <p:spPr>
          <a:xfrm>
            <a:off x="1607769" y="4459969"/>
            <a:ext cx="15060349" cy="4354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E185F-09F9-8BE2-556A-0BC04EA2F982}"/>
              </a:ext>
            </a:extLst>
          </p:cNvPr>
          <p:cNvSpPr txBox="1"/>
          <p:nvPr/>
        </p:nvSpPr>
        <p:spPr>
          <a:xfrm>
            <a:off x="1209292" y="4330021"/>
            <a:ext cx="89916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food storage warehouses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FCI storage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cooperatives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storage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farmer collectives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logistics hubs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government procurement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alerts for rural farmers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Multi-silo network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spoilage prediction models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ECDE9E-54FC-32F2-C0D3-E29071B18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72820" y="3965701"/>
            <a:ext cx="9449978" cy="5356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33988" y="0"/>
            <a:ext cx="6954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1658600" y="965200"/>
            <a:ext cx="5664199" cy="356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-12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DejaVu Sans Bold"/>
              </a:rPr>
              <a:t>MACHINE LEARNING INTEGRATION</a:t>
            </a:r>
          </a:p>
        </p:txBody>
      </p:sp>
      <p:graphicFrame>
        <p:nvGraphicFramePr>
          <p:cNvPr id="5" name="TextBox 3">
            <a:extLst>
              <a:ext uri="{FF2B5EF4-FFF2-40B4-BE49-F238E27FC236}">
                <a16:creationId xmlns:a16="http://schemas.microsoft.com/office/drawing/2014/main" id="{2F909099-693D-2614-1F7F-5AC767E9CB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89553"/>
              </p:ext>
            </p:extLst>
          </p:nvPr>
        </p:nvGraphicFramePr>
        <p:xfrm>
          <a:off x="950119" y="1026319"/>
          <a:ext cx="9417843" cy="8315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FF810E-C808-EC92-1B2C-7AF0C1692ADC}"/>
              </a:ext>
            </a:extLst>
          </p:cNvPr>
          <p:cNvSpPr txBox="1"/>
          <p:nvPr/>
        </p:nvSpPr>
        <p:spPr>
          <a:xfrm>
            <a:off x="838200" y="13335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Machine Learning Model – Rainfall Prediction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285991-D39A-80B4-37B4-65818F569FA9}"/>
              </a:ext>
            </a:extLst>
          </p:cNvPr>
          <p:cNvSpPr txBox="1"/>
          <p:nvPr/>
        </p:nvSpPr>
        <p:spPr>
          <a:xfrm>
            <a:off x="1219200" y="2628900"/>
            <a:ext cx="9296400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rainfall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temperature (DHT11)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humidity (DHT11)</a:t>
            </a:r>
          </a:p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Output: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rainfall probability for a given day</a:t>
            </a:r>
          </a:p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Why Random Forest?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relationships effectively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against overfitting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with mixed historical and real-time features</a:t>
            </a:r>
          </a:p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Impact on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proactive stock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spoilage during high humidity/rain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for perishable grain storage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D56DC-7736-7EA4-5512-7DE328873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1455058"/>
            <a:ext cx="7391400" cy="7117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9D1B6F-609C-AEF5-17E3-7C558BC66828}"/>
              </a:ext>
            </a:extLst>
          </p:cNvPr>
          <p:cNvSpPr txBox="1"/>
          <p:nvPr/>
        </p:nvSpPr>
        <p:spPr>
          <a:xfrm>
            <a:off x="1219200" y="102870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b="1"/>
              <a:t>Machine Learning Model – Demand Forecasting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DB34A-D0D6-8E48-CB35-3FED6098B478}"/>
              </a:ext>
            </a:extLst>
          </p:cNvPr>
          <p:cNvSpPr txBox="1"/>
          <p:nvPr/>
        </p:nvSpPr>
        <p:spPr>
          <a:xfrm>
            <a:off x="1238865" y="2019300"/>
            <a:ext cx="91440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forecast grain demand trends.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Input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demand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pricing data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Output: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vs Price relationship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demand levels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Why Random Forest?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complex market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regression-based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stable predictions across varied datasets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Impact on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intelligent buffer stock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overstocking and shortages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cost-efficient supply chain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262E45-E6B7-7EFF-0973-0C2C6205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400300"/>
            <a:ext cx="98552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3060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733</TotalTime>
  <Words>642</Words>
  <Application>Microsoft Office PowerPoint</Application>
  <PresentationFormat>Custom</PresentationFormat>
  <Paragraphs>151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Aptos</vt:lpstr>
      <vt:lpstr>Arial</vt:lpstr>
      <vt:lpstr>DejaVu Sans Bold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Silo Monitoring and Intelligent Buffer Stock Management System</dc:title>
  <dc:creator>ganapathy</dc:creator>
  <cp:lastModifiedBy>Ganapathy M</cp:lastModifiedBy>
  <cp:revision>6</cp:revision>
  <dcterms:created xsi:type="dcterms:W3CDTF">2006-08-16T00:00:00Z</dcterms:created>
  <dcterms:modified xsi:type="dcterms:W3CDTF">2026-02-08T20:33:28Z</dcterms:modified>
  <dc:identifier>DAHAtgZ8NHU</dc:identifier>
</cp:coreProperties>
</file>